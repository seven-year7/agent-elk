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6858000" cy="9906000"/>
  <p:notesSz cx="6858000" cy="9906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36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36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67263"/>
            <a:ext cx="5486400" cy="39004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71800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08981"/>
            <a:ext cx="2971800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3070860"/>
            <a:ext cx="5829300" cy="2080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547360"/>
            <a:ext cx="4800600" cy="2476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278380"/>
            <a:ext cx="2983230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278380"/>
            <a:ext cx="2983230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2900" y="396240"/>
            <a:ext cx="6172200" cy="1584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278380"/>
            <a:ext cx="6172200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9212580"/>
            <a:ext cx="219456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9212580"/>
            <a:ext cx="157734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37760" y="9212580"/>
            <a:ext cx="157734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jpeg"/><Relationship Id="rId1" Type="http://schemas.openxmlformats.org/officeDocument/2006/relationships/hyperlink" Target="mailto:18765039870@163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6410" y="533400"/>
            <a:ext cx="1386205" cy="939800"/>
          </a:xfrm>
          <a:prstGeom prst="rect">
            <a:avLst/>
          </a:prstGeom>
        </p:spPr>
        <p:txBody>
          <a:bodyPr vert="horz" wrap="square" lIns="0" tIns="8128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900" spc="-10" dirty="0">
                <a:latin typeface="微软雅黑" panose="020B0503020204020204" charset="-122"/>
                <a:cs typeface="微软雅黑" panose="020B0503020204020204" charset="-122"/>
              </a:rPr>
              <a:t>姓名：刘新博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英语能力：</a:t>
            </a:r>
            <a:r>
              <a:rPr sz="900" spc="-10" dirty="0">
                <a:latin typeface="微软雅黑" panose="020B0503020204020204" charset="-122"/>
                <a:cs typeface="微软雅黑" panose="020B0503020204020204" charset="-122"/>
              </a:rPr>
              <a:t>CET6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900" spc="-10" dirty="0">
                <a:latin typeface="微软雅黑" panose="020B0503020204020204" charset="-122"/>
                <a:cs typeface="微软雅黑" panose="020B0503020204020204" charset="-122"/>
              </a:rPr>
              <a:t>电话/微信：18765039870</a:t>
            </a:r>
            <a:endParaRPr sz="900" spc="-1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100" b="1" spc="-20" dirty="0">
                <a:solidFill>
                  <a:srgbClr val="2E5496"/>
                </a:solidFill>
                <a:latin typeface="微软雅黑" panose="020B0503020204020204" charset="-122"/>
                <a:cs typeface="微软雅黑" panose="020B0503020204020204" charset="-122"/>
              </a:rPr>
              <a:t>教育经历</a:t>
            </a:r>
            <a:endParaRPr sz="1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86549" y="1505318"/>
            <a:ext cx="6053455" cy="7620"/>
          </a:xfrm>
          <a:custGeom>
            <a:avLst/>
            <a:gdLst/>
            <a:ahLst/>
            <a:cxnLst/>
            <a:rect l="l" t="t" r="r" b="b"/>
            <a:pathLst>
              <a:path w="6053455" h="7619">
                <a:moveTo>
                  <a:pt x="6053213" y="7620"/>
                </a:moveTo>
                <a:lnTo>
                  <a:pt x="0" y="7620"/>
                </a:lnTo>
                <a:lnTo>
                  <a:pt x="0" y="0"/>
                </a:lnTo>
                <a:lnTo>
                  <a:pt x="6053213" y="0"/>
                </a:lnTo>
                <a:lnTo>
                  <a:pt x="6053213" y="762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7200" y="1475066"/>
            <a:ext cx="971550" cy="64071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13665">
              <a:lnSpc>
                <a:spcPct val="100000"/>
              </a:lnSpc>
              <a:spcBef>
                <a:spcPts val="64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2024.9</a:t>
            </a:r>
            <a:r>
              <a:rPr sz="900" spc="-15" dirty="0">
                <a:latin typeface="微软雅黑" panose="020B0503020204020204" charset="-122"/>
                <a:cs typeface="微软雅黑" panose="020B0503020204020204" charset="-122"/>
              </a:rPr>
              <a:t> - 至今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13665">
              <a:lnSpc>
                <a:spcPct val="100000"/>
              </a:lnSpc>
              <a:spcBef>
                <a:spcPts val="54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2020.9</a:t>
            </a: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-</a:t>
            </a: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-10" dirty="0">
                <a:latin typeface="微软雅黑" panose="020B0503020204020204" charset="-122"/>
                <a:cs typeface="微软雅黑" panose="020B0503020204020204" charset="-122"/>
              </a:rPr>
              <a:t>2024.6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b="1" spc="-20" dirty="0">
                <a:solidFill>
                  <a:srgbClr val="2E5496"/>
                </a:solidFill>
                <a:latin typeface="微软雅黑" panose="020B0503020204020204" charset="-122"/>
                <a:cs typeface="微软雅黑" panose="020B0503020204020204" charset="-122"/>
              </a:rPr>
              <a:t>专业技能</a:t>
            </a:r>
            <a:endParaRPr sz="1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4422" y="1529676"/>
            <a:ext cx="11506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 marR="5080" indent="-889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北京邮电大学</a:t>
            </a:r>
            <a:r>
              <a:rPr sz="900" spc="-10" dirty="0">
                <a:latin typeface="微软雅黑" panose="020B0503020204020204" charset="-122"/>
                <a:cs typeface="微软雅黑" panose="020B0503020204020204" charset="-122"/>
              </a:rPr>
              <a:t>（211)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大连海事大学</a:t>
            </a:r>
            <a:r>
              <a:rPr sz="900" spc="-10" dirty="0">
                <a:latin typeface="微软雅黑" panose="020B0503020204020204" charset="-122"/>
                <a:cs typeface="微软雅黑" panose="020B0503020204020204" charset="-122"/>
              </a:rPr>
              <a:t>（211）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76622" y="1509991"/>
            <a:ext cx="9702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" marR="5080" indent="-177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网络空间安全</a:t>
            </a:r>
            <a:r>
              <a:rPr sz="900" spc="-10" dirty="0">
                <a:latin typeface="微软雅黑" panose="020B0503020204020204" charset="-122"/>
                <a:cs typeface="微软雅黑" panose="020B0503020204020204" charset="-122"/>
              </a:rPr>
              <a:t>|</a:t>
            </a:r>
            <a:r>
              <a:rPr sz="900" spc="-25" dirty="0">
                <a:latin typeface="微软雅黑" panose="020B0503020204020204" charset="-122"/>
                <a:cs typeface="微软雅黑" panose="020B0503020204020204" charset="-122"/>
              </a:rPr>
              <a:t>硕士</a:t>
            </a: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网络工程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|</a:t>
            </a:r>
            <a:r>
              <a:rPr sz="900" spc="-20" dirty="0">
                <a:latin typeface="微软雅黑" panose="020B0503020204020204" charset="-122"/>
                <a:cs typeface="微软雅黑" panose="020B0503020204020204" charset="-122"/>
              </a:rPr>
              <a:t> 本科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1152" y="2242692"/>
            <a:ext cx="6032500" cy="155130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6540" indent="-170815">
              <a:lnSpc>
                <a:spcPct val="100000"/>
              </a:lnSpc>
              <a:spcBef>
                <a:spcPts val="220"/>
              </a:spcBef>
              <a:buFont typeface="Wingdings" panose="05000000000000000000"/>
              <a:buChar char=""/>
              <a:tabLst>
                <a:tab pos="256540" algn="l"/>
              </a:tabLst>
            </a:pPr>
            <a:r>
              <a:rPr lang="zh-CN" altLang="en-US" sz="1000">
                <a:latin typeface="宋体" panose="02010600030101010101" pitchFamily="2" charset="-122"/>
                <a:cs typeface="宋体" panose="02010600030101010101" pitchFamily="2" charset="-122"/>
              </a:rPr>
              <a:t>熟悉</a:t>
            </a:r>
            <a:r>
              <a:rPr lang="en-US" altLang="zh-CN" sz="1000">
                <a:latin typeface="宋体" panose="02010600030101010101" pitchFamily="2" charset="-122"/>
                <a:cs typeface="宋体" panose="02010600030101010101" pitchFamily="2" charset="-122"/>
              </a:rPr>
              <a:t> Java </a:t>
            </a:r>
            <a:r>
              <a:rPr lang="zh-CN" altLang="en-US" sz="1000">
                <a:latin typeface="宋体" panose="02010600030101010101" pitchFamily="2" charset="-122"/>
                <a:cs typeface="宋体" panose="02010600030101010101" pitchFamily="2" charset="-122"/>
              </a:rPr>
              <a:t>基础（集合、反射）、并发编程（</a:t>
            </a:r>
            <a:r>
              <a:rPr lang="en-US" altLang="zh-CN" sz="1000">
                <a:latin typeface="宋体" panose="02010600030101010101" pitchFamily="2" charset="-122"/>
                <a:cs typeface="宋体" panose="02010600030101010101" pitchFamily="2" charset="-122"/>
              </a:rPr>
              <a:t>JMM</a:t>
            </a:r>
            <a:r>
              <a:rPr lang="zh-CN" altLang="en-US" sz="100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000">
                <a:latin typeface="宋体" panose="02010600030101010101" pitchFamily="2" charset="-122"/>
                <a:cs typeface="宋体" panose="02010600030101010101" pitchFamily="2" charset="-122"/>
              </a:rPr>
              <a:t>synchronized</a:t>
            </a:r>
            <a:r>
              <a:rPr lang="zh-CN" altLang="en-US" sz="1000">
                <a:latin typeface="宋体" panose="02010600030101010101" pitchFamily="2" charset="-122"/>
                <a:cs typeface="宋体" panose="02010600030101010101" pitchFamily="2" charset="-122"/>
              </a:rPr>
              <a:t>、线程池）以及</a:t>
            </a:r>
            <a:r>
              <a:rPr lang="en-US" altLang="zh-CN" sz="1000">
                <a:latin typeface="宋体" panose="02010600030101010101" pitchFamily="2" charset="-122"/>
                <a:cs typeface="宋体" panose="02010600030101010101" pitchFamily="2" charset="-122"/>
              </a:rPr>
              <a:t> JVM </a:t>
            </a:r>
            <a:r>
              <a:rPr lang="zh-CN" altLang="en-US" sz="1000">
                <a:latin typeface="宋体" panose="02010600030101010101" pitchFamily="2" charset="-122"/>
                <a:cs typeface="宋体" panose="02010600030101010101" pitchFamily="2" charset="-122"/>
              </a:rPr>
              <a:t>内存结构；</a:t>
            </a:r>
            <a:endParaRPr lang="zh-CN" altLang="en-US" sz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56540" indent="-170815">
              <a:lnSpc>
                <a:spcPct val="100000"/>
              </a:lnSpc>
              <a:spcBef>
                <a:spcPts val="120"/>
              </a:spcBef>
              <a:buFont typeface="Wingdings" panose="05000000000000000000"/>
              <a:buChar char=""/>
              <a:tabLst>
                <a:tab pos="256540" algn="l"/>
              </a:tabLst>
            </a:pP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熟悉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TCP</a:t>
            </a:r>
            <a:r>
              <a:rPr sz="1000" b="1" spc="-10" dirty="0"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UDP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协议与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Socket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编程；熟悉进程线程、虚拟内存、零拷贝、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IO</a:t>
            </a:r>
            <a:r>
              <a:rPr sz="1000" spc="-25" dirty="0">
                <a:latin typeface="宋体" panose="02010600030101010101" pitchFamily="2" charset="-122"/>
                <a:cs typeface="宋体" panose="02010600030101010101" pitchFamily="2" charset="-122"/>
              </a:rPr>
              <a:t>模型；</a:t>
            </a:r>
            <a:endParaRPr sz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56540" indent="-170815">
              <a:lnSpc>
                <a:spcPct val="100000"/>
              </a:lnSpc>
              <a:spcBef>
                <a:spcPts val="120"/>
              </a:spcBef>
              <a:buFont typeface="Wingdings" panose="05000000000000000000"/>
              <a:buChar char=""/>
              <a:tabLst>
                <a:tab pos="256540" algn="l"/>
              </a:tabLst>
            </a:pP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了解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MySQL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数据库事务特性，存储引擎，索引，缓存相关知识</a:t>
            </a:r>
            <a:r>
              <a:rPr sz="1000" spc="-50" dirty="0">
                <a:latin typeface="Calibri" panose="020F0502020204030204"/>
                <a:cs typeface="Calibri" panose="020F0502020204030204"/>
              </a:rPr>
              <a:t>;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256540" indent="-170815">
              <a:lnSpc>
                <a:spcPct val="100000"/>
              </a:lnSpc>
              <a:spcBef>
                <a:spcPts val="120"/>
              </a:spcBef>
              <a:buFont typeface="Wingdings" panose="05000000000000000000"/>
              <a:buChar char=""/>
              <a:tabLst>
                <a:tab pos="256540" algn="l"/>
              </a:tabLst>
            </a:pP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掌握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SSM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SpringBoot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等框架的运用，掌握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IOC</a:t>
            </a:r>
            <a:r>
              <a:rPr sz="1000" b="1" spc="-10" dirty="0"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AOP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实现原理、事务实现方式、常用注解、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MyBatis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原理</a:t>
            </a:r>
            <a:r>
              <a:rPr sz="1000" spc="-50" dirty="0">
                <a:latin typeface="Calibri" panose="020F0502020204030204"/>
                <a:cs typeface="Calibri" panose="020F0502020204030204"/>
              </a:rPr>
              <a:t>;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256540" indent="-170815">
              <a:lnSpc>
                <a:spcPct val="100000"/>
              </a:lnSpc>
              <a:spcBef>
                <a:spcPts val="120"/>
              </a:spcBef>
              <a:buFont typeface="Wingdings" panose="05000000000000000000"/>
              <a:buChar char=""/>
              <a:tabLst>
                <a:tab pos="256540" algn="l"/>
              </a:tabLst>
            </a:pPr>
            <a:r>
              <a:rPr sz="1000" spc="-55" dirty="0">
                <a:latin typeface="宋体" panose="02010600030101010101" pitchFamily="2" charset="-122"/>
                <a:cs typeface="宋体" panose="02010600030101010101" pitchFamily="2" charset="-122"/>
              </a:rPr>
              <a:t>熟悉使用 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Redis,</a:t>
            </a:r>
            <a:r>
              <a:rPr sz="1000" spc="-90" dirty="0">
                <a:latin typeface="宋体" panose="02010600030101010101" pitchFamily="2" charset="-122"/>
                <a:cs typeface="宋体" panose="02010600030101010101" pitchFamily="2" charset="-122"/>
              </a:rPr>
              <a:t>了解 </a:t>
            </a:r>
            <a:r>
              <a:rPr sz="1000" dirty="0">
                <a:latin typeface="Calibri" panose="020F0502020204030204"/>
                <a:cs typeface="Calibri" panose="020F0502020204030204"/>
              </a:rPr>
              <a:t>Redis</a:t>
            </a:r>
            <a:r>
              <a:rPr sz="10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的数据类型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1000" spc="-85" dirty="0">
                <a:latin typeface="宋体" panose="02010600030101010101" pitchFamily="2" charset="-122"/>
                <a:cs typeface="宋体" panose="02010600030101010101" pitchFamily="2" charset="-122"/>
              </a:rPr>
              <a:t>了解 </a:t>
            </a:r>
            <a:r>
              <a:rPr sz="1000" dirty="0">
                <a:latin typeface="Calibri" panose="020F0502020204030204"/>
                <a:cs typeface="Calibri" panose="020F0502020204030204"/>
              </a:rPr>
              <a:t>Redis</a:t>
            </a:r>
            <a:r>
              <a:rPr sz="10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的常见应用场景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1000" spc="-15" dirty="0">
                <a:latin typeface="宋体" panose="02010600030101010101" pitchFamily="2" charset="-122"/>
                <a:cs typeface="宋体" panose="02010600030101010101" pitchFamily="2" charset="-122"/>
              </a:rPr>
              <a:t>如缓存、队列、限流的解决方案</a:t>
            </a:r>
            <a:endParaRPr sz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56540" indent="-170815">
              <a:lnSpc>
                <a:spcPct val="100000"/>
              </a:lnSpc>
              <a:spcBef>
                <a:spcPts val="120"/>
              </a:spcBef>
              <a:buFont typeface="Wingdings" panose="05000000000000000000"/>
              <a:buChar char=""/>
              <a:tabLst>
                <a:tab pos="256540" algn="l"/>
              </a:tabLst>
            </a:pPr>
            <a:r>
              <a:rPr sz="1000" spc="-25" dirty="0">
                <a:latin typeface="宋体" panose="02010600030101010101" pitchFamily="2" charset="-122"/>
                <a:cs typeface="宋体" panose="02010600030101010101" pitchFamily="2" charset="-122"/>
              </a:rPr>
              <a:t>了解 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RabbitMQ</a:t>
            </a:r>
            <a:r>
              <a:rPr sz="1000" b="1" spc="-10" dirty="0">
                <a:latin typeface="Microsoft JhengHei" panose="020B0604030504040204" charset="-120"/>
                <a:cs typeface="Microsoft JhengHei" panose="020B0604030504040204" charset="-120"/>
              </a:rPr>
              <a:t>、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Kafka</a:t>
            </a:r>
            <a:r>
              <a:rPr sz="1000" spc="-15" dirty="0">
                <a:latin typeface="宋体" panose="02010600030101010101" pitchFamily="2" charset="-122"/>
                <a:cs typeface="宋体" panose="02010600030101010101" pitchFamily="2" charset="-122"/>
              </a:rPr>
              <a:t>中间件的使用与相关知识，如消息队列，消息丢失等问题解决方案</a:t>
            </a:r>
            <a:endParaRPr sz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56540" indent="-170815">
              <a:lnSpc>
                <a:spcPct val="100000"/>
              </a:lnSpc>
              <a:spcBef>
                <a:spcPts val="120"/>
              </a:spcBef>
              <a:buFont typeface="Wingdings" panose="05000000000000000000"/>
              <a:buChar char=""/>
              <a:tabLst>
                <a:tab pos="256540" algn="l"/>
              </a:tabLst>
            </a:pPr>
            <a:r>
              <a:rPr sz="1000" spc="-85" dirty="0">
                <a:latin typeface="宋体" panose="02010600030101010101" pitchFamily="2" charset="-122"/>
                <a:cs typeface="宋体" panose="02010600030101010101" pitchFamily="2" charset="-122"/>
              </a:rPr>
              <a:t>了解 </a:t>
            </a:r>
            <a:r>
              <a:rPr sz="1000" b="1" dirty="0">
                <a:latin typeface="Calibri" panose="020F0502020204030204"/>
                <a:cs typeface="Calibri" panose="020F0502020204030204"/>
              </a:rPr>
              <a:t>SpringCloud</a:t>
            </a:r>
            <a:r>
              <a:rPr sz="1000" b="1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微服务架构，了解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SpringCloud</a:t>
            </a:r>
            <a:r>
              <a:rPr sz="1000" spc="-35" dirty="0">
                <a:latin typeface="宋体" panose="02010600030101010101" pitchFamily="2" charset="-122"/>
                <a:cs typeface="宋体" panose="02010600030101010101" pitchFamily="2" charset="-122"/>
              </a:rPr>
              <a:t>常用组件的使用，如 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Nacos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Feign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000" dirty="0">
                <a:latin typeface="Calibri" panose="020F0502020204030204"/>
                <a:cs typeface="Calibri" panose="020F0502020204030204"/>
              </a:rPr>
              <a:t>GateWay</a:t>
            </a:r>
            <a:r>
              <a:rPr sz="100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Seata</a:t>
            </a:r>
            <a:r>
              <a:rPr sz="1000" spc="-50" dirty="0"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endParaRPr sz="1000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56540" indent="-170815">
              <a:lnSpc>
                <a:spcPct val="100000"/>
              </a:lnSpc>
              <a:spcBef>
                <a:spcPts val="120"/>
              </a:spcBef>
              <a:buFont typeface="Wingdings" panose="05000000000000000000"/>
              <a:buChar char=""/>
              <a:tabLst>
                <a:tab pos="256540" algn="l"/>
              </a:tabLst>
            </a:pP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熟练使用</a:t>
            </a:r>
            <a:r>
              <a:rPr sz="1000" spc="-10" dirty="0">
                <a:latin typeface="Calibri" panose="020F0502020204030204"/>
                <a:cs typeface="Calibri" panose="020F0502020204030204"/>
                <a:sym typeface="+mn-ea"/>
              </a:rPr>
              <a:t>Linux,Git,Docker</a:t>
            </a:r>
            <a:r>
              <a:rPr sz="1000" spc="-2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常用相关命令；</a:t>
            </a:r>
            <a:endParaRPr sz="1000" spc="-2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5725" indent="0">
              <a:lnSpc>
                <a:spcPct val="100000"/>
              </a:lnSpc>
              <a:spcBef>
                <a:spcPts val="120"/>
              </a:spcBef>
              <a:buFont typeface="Wingdings" panose="05000000000000000000"/>
              <a:buNone/>
              <a:tabLst>
                <a:tab pos="256540" algn="l"/>
              </a:tabLst>
            </a:pPr>
            <a:r>
              <a:rPr sz="1100" b="1" spc="-20" dirty="0">
                <a:solidFill>
                  <a:srgbClr val="2E5496"/>
                </a:solidFill>
                <a:latin typeface="微软雅黑" panose="020B0503020204020204" charset="-122"/>
                <a:cs typeface="微软雅黑" panose="020B0503020204020204" charset="-122"/>
              </a:rPr>
              <a:t>项目经历</a:t>
            </a:r>
            <a:endParaRPr sz="1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6090" y="304799"/>
            <a:ext cx="58483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20" dirty="0">
                <a:solidFill>
                  <a:srgbClr val="2E5496"/>
                </a:solidFill>
                <a:latin typeface="微软雅黑" panose="020B0503020204020204" charset="-122"/>
                <a:cs typeface="微软雅黑" panose="020B0503020204020204" charset="-122"/>
              </a:rPr>
              <a:t>基本信息</a:t>
            </a:r>
            <a:endParaRPr sz="1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6371" y="499059"/>
            <a:ext cx="4920615" cy="20320"/>
          </a:xfrm>
          <a:custGeom>
            <a:avLst/>
            <a:gdLst/>
            <a:ahLst/>
            <a:cxnLst/>
            <a:rect l="l" t="t" r="r" b="b"/>
            <a:pathLst>
              <a:path w="4920615" h="20320">
                <a:moveTo>
                  <a:pt x="4920005" y="20307"/>
                </a:moveTo>
                <a:lnTo>
                  <a:pt x="0" y="7620"/>
                </a:lnTo>
                <a:lnTo>
                  <a:pt x="12" y="0"/>
                </a:lnTo>
                <a:lnTo>
                  <a:pt x="4920030" y="12687"/>
                </a:lnTo>
                <a:lnTo>
                  <a:pt x="4920005" y="20307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315387" y="533450"/>
            <a:ext cx="1692910" cy="42735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年龄： </a:t>
            </a:r>
            <a:r>
              <a:rPr sz="900" dirty="0">
                <a:latin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en-US" sz="900" dirty="0">
                <a:latin typeface="微软雅黑" panose="020B0503020204020204" charset="-122"/>
                <a:cs typeface="微软雅黑" panose="020B0503020204020204" charset="-122"/>
              </a:rPr>
              <a:t>2</a:t>
            </a:r>
            <a:r>
              <a:rPr sz="900" spc="-50" dirty="0">
                <a:latin typeface="微软雅黑" panose="020B0503020204020204" charset="-122"/>
                <a:cs typeface="微软雅黑" panose="020B0503020204020204" charset="-122"/>
              </a:rPr>
              <a:t>岁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900" spc="-5" dirty="0">
                <a:latin typeface="微软雅黑" panose="020B0503020204020204" charset="-122"/>
                <a:cs typeface="微软雅黑" panose="020B0503020204020204" charset="-122"/>
              </a:rPr>
              <a:t>邮箱：</a:t>
            </a:r>
            <a:r>
              <a:rPr sz="900" spc="-10" dirty="0">
                <a:latin typeface="微软雅黑" panose="020B0503020204020204" charset="-122"/>
                <a:cs typeface="微软雅黑" panose="020B0503020204020204" charset="-122"/>
                <a:hlinkClick r:id="rId1"/>
              </a:rPr>
              <a:t>18765039870@163.com</a:t>
            </a:r>
            <a:endParaRPr sz="9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3400" y="3896359"/>
            <a:ext cx="4723765" cy="781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indent="0" eaLnBrk="1" fontAlgn="auto" latinLnBrk="0" hangingPunct="1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Microsoft JhengHei" panose="020B0604030504040204" charset="-120"/>
                <a:cs typeface="Microsoft JhengHei" panose="020B0604030504040204" charset="-120"/>
              </a:rPr>
              <a:t>美食点评</a:t>
            </a:r>
            <a:endParaRPr sz="1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indent="0" eaLnBrk="1" fontAlgn="auto" latinLnBrk="0" hangingPunct="1">
              <a:lnSpc>
                <a:spcPct val="100000"/>
              </a:lnSpc>
            </a:pPr>
            <a:r>
              <a:rPr sz="1000" b="1" spc="-10" dirty="0">
                <a:latin typeface="Microsoft JhengHei" panose="020B0604030504040204" charset="-120"/>
                <a:cs typeface="Microsoft JhengHei" panose="020B0604030504040204" charset="-120"/>
              </a:rPr>
              <a:t>项目描述</a:t>
            </a:r>
            <a:r>
              <a:rPr sz="1000" b="1" spc="75" dirty="0">
                <a:latin typeface="Calibri" panose="020F0502020204030204"/>
                <a:cs typeface="Calibri" panose="020F0502020204030204"/>
              </a:rPr>
              <a:t>: </a:t>
            </a:r>
            <a:r>
              <a:rPr sz="1000" spc="-15" dirty="0">
                <a:latin typeface="宋体" panose="02010600030101010101" pitchFamily="2" charset="-122"/>
                <a:cs typeface="宋体" panose="02010600030101010101" pitchFamily="2" charset="-122"/>
              </a:rPr>
              <a:t>该平台是一款以用户发布美食探店等生活记录为主体的服务平台。</a:t>
            </a:r>
            <a:endParaRPr sz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indent="0" eaLnBrk="1" fontAlgn="auto" latinLnBrk="0" hangingPunct="1">
              <a:lnSpc>
                <a:spcPct val="100000"/>
              </a:lnSpc>
            </a:pPr>
            <a:r>
              <a:rPr sz="1000" b="1" spc="-10" dirty="0">
                <a:latin typeface="Microsoft JhengHei" panose="020B0604030504040204" charset="-120"/>
                <a:cs typeface="Microsoft JhengHei" panose="020B0604030504040204" charset="-120"/>
              </a:rPr>
              <a:t>核心技术栈</a:t>
            </a:r>
            <a:r>
              <a:rPr sz="1000" b="1" spc="-20" dirty="0">
                <a:latin typeface="Calibri" panose="020F0502020204030204"/>
                <a:cs typeface="Calibri" panose="020F0502020204030204"/>
              </a:rPr>
              <a:t>: </a:t>
            </a:r>
            <a:r>
              <a:rPr sz="1000" b="1" dirty="0">
                <a:latin typeface="Calibri" panose="020F0502020204030204"/>
                <a:cs typeface="Calibri" panose="020F0502020204030204"/>
              </a:rPr>
              <a:t>SpringBoot</a:t>
            </a:r>
            <a:r>
              <a:rPr sz="1000" b="1" spc="-15" dirty="0">
                <a:latin typeface="Calibri" panose="020F0502020204030204"/>
                <a:cs typeface="Calibri" panose="020F0502020204030204"/>
              </a:rPr>
              <a:t>, </a:t>
            </a:r>
            <a:r>
              <a:rPr sz="1000" b="1" dirty="0">
                <a:latin typeface="Calibri" panose="020F0502020204030204"/>
                <a:cs typeface="Calibri" panose="020F0502020204030204"/>
              </a:rPr>
              <a:t>MySQL</a:t>
            </a:r>
            <a:r>
              <a:rPr sz="1000" b="1" spc="-15" dirty="0">
                <a:latin typeface="Calibri" panose="020F0502020204030204"/>
                <a:cs typeface="Calibri" panose="020F0502020204030204"/>
              </a:rPr>
              <a:t>, </a:t>
            </a:r>
            <a:r>
              <a:rPr sz="1000" b="1" dirty="0">
                <a:latin typeface="Calibri" panose="020F0502020204030204"/>
                <a:cs typeface="Calibri" panose="020F0502020204030204"/>
              </a:rPr>
              <a:t>Redis</a:t>
            </a:r>
            <a:r>
              <a:rPr sz="1000" b="1" spc="-15" dirty="0">
                <a:latin typeface="Calibri" panose="020F0502020204030204"/>
                <a:cs typeface="Calibri" panose="020F0502020204030204"/>
              </a:rPr>
              <a:t>, </a:t>
            </a:r>
            <a:r>
              <a:rPr sz="1000" b="1" dirty="0">
                <a:latin typeface="Calibri" panose="020F0502020204030204"/>
                <a:cs typeface="Calibri" panose="020F0502020204030204"/>
              </a:rPr>
              <a:t>MyBatis</a:t>
            </a:r>
            <a:r>
              <a:rPr sz="1000" b="1" spc="-15" dirty="0">
                <a:latin typeface="Calibri" panose="020F0502020204030204"/>
                <a:cs typeface="Calibri" panose="020F0502020204030204"/>
              </a:rPr>
              <a:t>, </a:t>
            </a:r>
            <a:r>
              <a:rPr sz="1000" b="1" dirty="0">
                <a:latin typeface="Calibri" panose="020F0502020204030204"/>
                <a:cs typeface="Calibri" panose="020F0502020204030204"/>
              </a:rPr>
              <a:t>Redisson</a:t>
            </a:r>
            <a:r>
              <a:rPr sz="1000" b="1" spc="-15" dirty="0">
                <a:latin typeface="Calibri" panose="020F0502020204030204"/>
                <a:cs typeface="Calibri" panose="020F0502020204030204"/>
              </a:rPr>
              <a:t>, 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Nginx,RabbitMQ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1200"/>
              </a:lnSpc>
              <a:spcBef>
                <a:spcPts val="5"/>
              </a:spcBef>
            </a:pPr>
            <a:r>
              <a:rPr sz="1000" b="1" spc="-10" dirty="0">
                <a:latin typeface="Microsoft JhengHei" panose="020B0604030504040204" charset="-120"/>
                <a:cs typeface="Microsoft JhengHei" panose="020B0604030504040204" charset="-120"/>
              </a:rPr>
              <a:t>核心功能：</a:t>
            </a:r>
            <a:r>
              <a:rPr sz="1000" spc="-15" dirty="0">
                <a:latin typeface="宋体" panose="02010600030101010101" pitchFamily="2" charset="-122"/>
                <a:cs typeface="宋体" panose="02010600030101010101" pitchFamily="2" charset="-122"/>
              </a:rPr>
              <a:t>用户登录，下单购物，优惠卷秒杀，笔记发布，文章点赞和转发等功能。</a:t>
            </a:r>
            <a:r>
              <a:rPr sz="1000" b="1" spc="-20" dirty="0">
                <a:latin typeface="Microsoft JhengHei" panose="020B0604030504040204" charset="-120"/>
                <a:cs typeface="Microsoft JhengHei" panose="020B0604030504040204" charset="-120"/>
              </a:rPr>
              <a:t>主要工作：</a:t>
            </a:r>
            <a:endParaRPr sz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6250" y="4701540"/>
            <a:ext cx="6043295" cy="314579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288290" indent="-170815" eaLnBrk="1" fontAlgn="auto" latinLnBrk="0" hangingPunct="1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"/>
              <a:tabLst>
                <a:tab pos="288290" algn="l"/>
              </a:tabLst>
            </a:pP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登录模块涉及发送短信验证码接口防护、登录信息校验和会话三个方面的内容，借助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Redis</a:t>
            </a:r>
            <a:r>
              <a:rPr sz="1000" spc="-20" dirty="0">
                <a:latin typeface="宋体" panose="02010600030101010101" pitchFamily="2" charset="-122"/>
                <a:cs typeface="宋体" panose="02010600030101010101" pitchFamily="2" charset="-122"/>
              </a:rPr>
              <a:t>解决服务器</a:t>
            </a:r>
            <a:endParaRPr sz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8925" eaLnBrk="1" fontAlgn="auto" latinLnBrk="0" hangingPunct="1">
              <a:lnSpc>
                <a:spcPct val="100000"/>
              </a:lnSpc>
            </a:pPr>
            <a:r>
              <a:rPr sz="1000" spc="-10" dirty="0">
                <a:latin typeface="Calibri" panose="020F0502020204030204"/>
                <a:cs typeface="Calibri" panose="020F0502020204030204"/>
              </a:rPr>
              <a:t>Session</a:t>
            </a:r>
            <a:r>
              <a:rPr sz="1000" spc="-20" dirty="0">
                <a:latin typeface="宋体" panose="02010600030101010101" pitchFamily="2" charset="-122"/>
                <a:cs typeface="宋体" panose="02010600030101010101" pitchFamily="2" charset="-122"/>
              </a:rPr>
              <a:t>共享问题；</a:t>
            </a:r>
            <a:endParaRPr sz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8925" marR="59055" indent="-171450" eaLnBrk="1" fontAlgn="auto" latinLnBrk="0" hangingPunct="1">
              <a:lnSpc>
                <a:spcPct val="100000"/>
              </a:lnSpc>
              <a:spcBef>
                <a:spcPts val="85"/>
              </a:spcBef>
              <a:buFont typeface="Wingdings" panose="05000000000000000000"/>
              <a:buChar char=""/>
              <a:tabLst>
                <a:tab pos="288925" algn="l"/>
              </a:tabLst>
            </a:pPr>
            <a:r>
              <a:rPr sz="1000" spc="-65" dirty="0">
                <a:latin typeface="宋体" panose="02010600030101010101" pitchFamily="2" charset="-122"/>
                <a:cs typeface="宋体" panose="02010600030101010101" pitchFamily="2" charset="-122"/>
              </a:rPr>
              <a:t>使用 </a:t>
            </a:r>
            <a:r>
              <a:rPr sz="1000" dirty="0">
                <a:latin typeface="Calibri" panose="020F0502020204030204"/>
                <a:cs typeface="Calibri" panose="020F0502020204030204"/>
              </a:rPr>
              <a:t>Redis </a:t>
            </a:r>
            <a:r>
              <a:rPr sz="1000" spc="-15" dirty="0">
                <a:latin typeface="宋体" panose="02010600030101010101" pitchFamily="2" charset="-122"/>
                <a:cs typeface="宋体" panose="02010600030101010101" pitchFamily="2" charset="-122"/>
              </a:rPr>
              <a:t>对高频访问的信息进行缓存，降低了数据库的查询的压力，解决了缓存穿透、雪崩、击穿问</a:t>
            </a:r>
            <a:r>
              <a:rPr sz="1000" spc="-50" dirty="0">
                <a:latin typeface="宋体" panose="02010600030101010101" pitchFamily="2" charset="-122"/>
                <a:cs typeface="宋体" panose="02010600030101010101" pitchFamily="2" charset="-122"/>
              </a:rPr>
              <a:t>题</a:t>
            </a:r>
            <a:endParaRPr sz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8290" indent="-170815" eaLnBrk="1" fontAlgn="auto" latinLnBrk="0" hangingPunct="1">
              <a:lnSpc>
                <a:spcPct val="100000"/>
              </a:lnSpc>
              <a:buFont typeface="Wingdings" panose="05000000000000000000"/>
              <a:buChar char=""/>
              <a:tabLst>
                <a:tab pos="288290" algn="l"/>
              </a:tabLst>
            </a:pP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使用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Redi</a:t>
            </a:r>
            <a:r>
              <a:rPr lang="en-US" altLang="" sz="1000" spc="-10" dirty="0">
                <a:latin typeface="Calibri" panose="020F0502020204030204"/>
                <a:cs typeface="Calibri" panose="020F0502020204030204"/>
              </a:rPr>
              <a:t>s Lua</a:t>
            </a:r>
            <a:r>
              <a:rPr lang="zh-CN" altLang="en-US" sz="1000" spc="-10" dirty="0">
                <a:latin typeface="Calibri" panose="020F0502020204030204"/>
                <a:cs typeface="Calibri" panose="020F0502020204030204"/>
              </a:rPr>
              <a:t>脚本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解决了一人一单的安全问题，使用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RabbitMq</a:t>
            </a:r>
            <a:r>
              <a:rPr sz="1000" spc="-15" dirty="0">
                <a:latin typeface="宋体" panose="02010600030101010101" pitchFamily="2" charset="-122"/>
                <a:cs typeface="宋体" panose="02010600030101010101" pitchFamily="2" charset="-122"/>
              </a:rPr>
              <a:t>作为消息队列，实现异步秒杀下单；</a:t>
            </a:r>
            <a:endParaRPr sz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8290" indent="-170815" eaLnBrk="1" fontAlgn="auto" latinLnBrk="0" hangingPunct="1">
              <a:lnSpc>
                <a:spcPct val="100000"/>
              </a:lnSpc>
              <a:buFont typeface="Wingdings" panose="05000000000000000000"/>
              <a:buChar char=""/>
              <a:tabLst>
                <a:tab pos="288290" algn="l"/>
              </a:tabLst>
            </a:pP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使用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Redis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ZSet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数据结构实现了点赞排行榜功能，使用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Set</a:t>
            </a:r>
            <a:r>
              <a:rPr sz="1000" spc="-15" dirty="0">
                <a:latin typeface="宋体" panose="02010600030101010101" pitchFamily="2" charset="-122"/>
                <a:cs typeface="宋体" panose="02010600030101010101" pitchFamily="2" charset="-122"/>
              </a:rPr>
              <a:t>集合实现关注，共同关注功能；</a:t>
            </a:r>
            <a:endParaRPr sz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7475" indent="0" eaLnBrk="1" fontAlgn="auto" latinLnBrk="0" hangingPunct="1">
              <a:lnSpc>
                <a:spcPct val="100000"/>
              </a:lnSpc>
              <a:tabLst>
                <a:tab pos="5081905" algn="l"/>
              </a:tabLst>
            </a:pPr>
            <a:r>
              <a:rPr sz="1000" b="1" dirty="0">
                <a:latin typeface="Calibri" panose="020F0502020204030204"/>
                <a:cs typeface="Calibri" panose="020F0502020204030204"/>
              </a:rPr>
              <a:t>Instant</a:t>
            </a:r>
            <a:r>
              <a:rPr sz="1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b="1" dirty="0">
                <a:latin typeface="Calibri" panose="020F0502020204030204"/>
                <a:cs typeface="Calibri" panose="020F0502020204030204"/>
              </a:rPr>
              <a:t>Messaging</a:t>
            </a:r>
            <a:r>
              <a:rPr sz="1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b="1" spc="-10" dirty="0">
                <a:latin typeface="Microsoft JhengHei" panose="020B0604030504040204" charset="-120"/>
                <a:cs typeface="Microsoft JhengHei" panose="020B0604030504040204" charset="-120"/>
              </a:rPr>
              <a:t>即时通</a:t>
            </a:r>
            <a:r>
              <a:rPr sz="1000" b="1" dirty="0">
                <a:latin typeface="Microsoft JhengHei" panose="020B0604030504040204" charset="-120"/>
                <a:cs typeface="Microsoft JhengHei" panose="020B0604030504040204" charset="-120"/>
              </a:rPr>
              <a:t>讯</a:t>
            </a:r>
            <a:r>
              <a:rPr sz="1000" b="1" spc="-45" dirty="0"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000" b="1" spc="-25" dirty="0">
                <a:latin typeface="Calibri" panose="020F0502020204030204"/>
                <a:cs typeface="Calibri" panose="020F0502020204030204"/>
              </a:rPr>
              <a:t>APP</a:t>
            </a:r>
            <a:r>
              <a:rPr sz="1000" b="1" dirty="0">
                <a:latin typeface="Calibri" panose="020F0502020204030204"/>
                <a:cs typeface="Calibri" panose="020F0502020204030204"/>
              </a:rPr>
              <a:t>	</a:t>
            </a:r>
            <a:r>
              <a:rPr lang="en-US" altLang="en-US" sz="1000" b="1" dirty="0">
                <a:latin typeface="Calibri" panose="020F0502020204030204"/>
                <a:cs typeface="Calibri" panose="020F0502020204030204"/>
              </a:rPr>
              <a:t>  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2025.</a:t>
            </a:r>
            <a:r>
              <a:rPr lang="en-US" altLang="en-US" sz="1000" b="1" spc="-10" dirty="0">
                <a:latin typeface="Calibri" panose="020F0502020204030204"/>
                <a:cs typeface="Calibri" panose="020F0502020204030204"/>
              </a:rPr>
              <a:t>5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-2025.</a:t>
            </a:r>
            <a:r>
              <a:rPr lang="en-US" altLang="en-US" sz="1000" b="1" spc="-10" dirty="0">
                <a:latin typeface="Calibri" panose="020F0502020204030204"/>
                <a:cs typeface="Calibri" panose="020F0502020204030204"/>
              </a:rPr>
              <a:t>7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117475" marR="49530" indent="0" eaLnBrk="1" fontAlgn="auto" latinLnBrk="0" hangingPunct="1">
              <a:lnSpc>
                <a:spcPct val="100000"/>
              </a:lnSpc>
              <a:spcBef>
                <a:spcPts val="30"/>
              </a:spcBef>
            </a:pPr>
            <a:r>
              <a:rPr sz="1000" b="1" spc="-10" dirty="0">
                <a:latin typeface="Microsoft JhengHei" panose="020B0604030504040204" charset="-120"/>
                <a:cs typeface="Microsoft JhengHei" panose="020B0604030504040204" charset="-120"/>
              </a:rPr>
              <a:t>项目介绍</a:t>
            </a:r>
            <a:r>
              <a:rPr sz="1000" spc="-15" dirty="0">
                <a:latin typeface="宋体" panose="02010600030101010101" pitchFamily="2" charset="-122"/>
                <a:cs typeface="宋体" panose="02010600030101010101" pitchFamily="2" charset="-122"/>
              </a:rPr>
              <a:t>：设计并实现了一款支持高并发、高实时性的即时通讯应用，旨在解决传统 </a:t>
            </a:r>
            <a:r>
              <a:rPr sz="1000" dirty="0">
                <a:latin typeface="Calibri" panose="020F0502020204030204"/>
                <a:cs typeface="Calibri" panose="020F0502020204030204"/>
              </a:rPr>
              <a:t>HTTP </a:t>
            </a:r>
            <a:r>
              <a:rPr sz="1000" spc="-20" dirty="0">
                <a:latin typeface="宋体" panose="02010600030101010101" pitchFamily="2" charset="-122"/>
                <a:cs typeface="宋体" panose="02010600030101010101" pitchFamily="2" charset="-122"/>
              </a:rPr>
              <a:t>请求无法满足</a:t>
            </a:r>
            <a:r>
              <a:rPr sz="1000" spc="-25" dirty="0">
                <a:latin typeface="宋体" panose="02010600030101010101" pitchFamily="2" charset="-122"/>
                <a:cs typeface="宋体" panose="02010600030101010101" pitchFamily="2" charset="-122"/>
              </a:rPr>
              <a:t>服务端主动推送消息的需求。通过 </a:t>
            </a:r>
            <a:r>
              <a:rPr sz="1000" dirty="0">
                <a:latin typeface="Calibri" panose="020F0502020204030204"/>
                <a:cs typeface="Calibri" panose="020F0502020204030204"/>
              </a:rPr>
              <a:t>WebSocket </a:t>
            </a:r>
            <a:r>
              <a:rPr sz="1000" spc="-15" dirty="0">
                <a:latin typeface="宋体" panose="02010600030101010101" pitchFamily="2" charset="-122"/>
                <a:cs typeface="宋体" panose="02010600030101010101" pitchFamily="2" charset="-122"/>
              </a:rPr>
              <a:t>和分布式架构，实现了客户端与服务端的长连接通信，解决了大规模用户场景下的消息实时性、可靠性和顺序性问题。</a:t>
            </a:r>
            <a:endParaRPr sz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7475" eaLnBrk="1" fontAlgn="auto" latinLnBrk="0" hangingPunct="1">
              <a:lnSpc>
                <a:spcPct val="100000"/>
              </a:lnSpc>
              <a:spcBef>
                <a:spcPts val="65"/>
              </a:spcBef>
            </a:pPr>
            <a:r>
              <a:rPr sz="1000" b="1" spc="-10" dirty="0">
                <a:latin typeface="Microsoft JhengHei" panose="020B0604030504040204" charset="-120"/>
                <a:cs typeface="Microsoft JhengHei" panose="020B0604030504040204" charset="-120"/>
              </a:rPr>
              <a:t>核心技术栈</a:t>
            </a:r>
            <a:r>
              <a:rPr sz="1000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1000" b="1" dirty="0">
                <a:latin typeface="Calibri" panose="020F0502020204030204"/>
                <a:cs typeface="Calibri" panose="020F0502020204030204"/>
              </a:rPr>
              <a:t>SpringBoot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, </a:t>
            </a:r>
            <a:r>
              <a:rPr sz="1000" b="1" dirty="0">
                <a:latin typeface="Calibri" panose="020F0502020204030204"/>
                <a:cs typeface="Calibri" panose="020F0502020204030204"/>
              </a:rPr>
              <a:t>WebSocket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, </a:t>
            </a:r>
            <a:r>
              <a:rPr sz="1000" b="1" dirty="0">
                <a:latin typeface="Calibri" panose="020F0502020204030204"/>
                <a:cs typeface="Calibri" panose="020F0502020204030204"/>
              </a:rPr>
              <a:t>Netty</a:t>
            </a:r>
            <a:r>
              <a:rPr sz="1000" b="1" spc="-5" dirty="0">
                <a:latin typeface="Calibri" panose="020F0502020204030204"/>
                <a:cs typeface="Calibri" panose="020F0502020204030204"/>
              </a:rPr>
              <a:t>, </a:t>
            </a:r>
            <a:r>
              <a:rPr sz="1000" b="1" dirty="0">
                <a:latin typeface="Calibri" panose="020F0502020204030204"/>
                <a:cs typeface="Calibri" panose="020F0502020204030204"/>
              </a:rPr>
              <a:t>Kafka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, </a:t>
            </a:r>
            <a:r>
              <a:rPr sz="1000" b="1" dirty="0">
                <a:latin typeface="Calibri" panose="020F0502020204030204"/>
                <a:cs typeface="Calibri" panose="020F0502020204030204"/>
              </a:rPr>
              <a:t>MySQL</a:t>
            </a:r>
            <a:r>
              <a:rPr sz="1000" b="1" spc="-5" dirty="0">
                <a:latin typeface="Calibri" panose="020F0502020204030204"/>
                <a:cs typeface="Calibri" panose="020F0502020204030204"/>
              </a:rPr>
              <a:t>, 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Redis,Springcloud</a:t>
            </a:r>
            <a:r>
              <a:rPr sz="1000" b="1" spc="-15" dirty="0">
                <a:latin typeface="Calibri" panose="020F0502020204030204"/>
                <a:cs typeface="Calibri" panose="020F0502020204030204"/>
              </a:rPr>
              <a:t>, </a:t>
            </a:r>
            <a:r>
              <a:rPr sz="1000" b="1" dirty="0">
                <a:latin typeface="Calibri" panose="020F0502020204030204"/>
                <a:cs typeface="Calibri" panose="020F0502020204030204"/>
              </a:rPr>
              <a:t>Nacos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, Docker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117475" eaLnBrk="1" fontAlgn="auto" latinLnBrk="0" hangingPunct="1">
              <a:lnSpc>
                <a:spcPct val="100000"/>
              </a:lnSpc>
            </a:pPr>
            <a:r>
              <a:rPr sz="1000" b="1" spc="-10" dirty="0">
                <a:latin typeface="Microsoft JhengHei" panose="020B0604030504040204" charset="-120"/>
                <a:cs typeface="Microsoft JhengHei" panose="020B0604030504040204" charset="-120"/>
              </a:rPr>
              <a:t>核心功能：</a:t>
            </a:r>
            <a:r>
              <a:rPr sz="1000" spc="-15" dirty="0">
                <a:latin typeface="宋体" panose="02010600030101010101" pitchFamily="2" charset="-122"/>
                <a:cs typeface="宋体" panose="02010600030101010101" pitchFamily="2" charset="-122"/>
              </a:rPr>
              <a:t>登录注册，添加联系人，单聊，群聊，发抢红包，朋友圈点赞，评论</a:t>
            </a:r>
            <a:endParaRPr sz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8925" marR="113030" indent="-171450" eaLnBrk="1" fontAlgn="auto" latinLnBrk="0" hangingPunct="1">
              <a:lnSpc>
                <a:spcPct val="100000"/>
              </a:lnSpc>
              <a:spcBef>
                <a:spcPts val="160"/>
              </a:spcBef>
              <a:buFont typeface="Wingdings" panose="05000000000000000000"/>
              <a:buChar char=""/>
              <a:tabLst>
                <a:tab pos="288925" algn="l"/>
              </a:tabLst>
            </a:pP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构建双通道消息体系：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WebSocket 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长连接实时通信</a:t>
            </a:r>
            <a:r>
              <a:rPr sz="1000" dirty="0">
                <a:latin typeface="Calibri" panose="020F0502020204030204"/>
                <a:cs typeface="Calibri" panose="020F0502020204030204"/>
              </a:rPr>
              <a:t>, 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基于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Netty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实现长连接网关，设计心跳检测与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ACK</a:t>
            </a:r>
            <a:r>
              <a:rPr sz="1000" spc="-50" dirty="0">
                <a:latin typeface="宋体" panose="02010600030101010101" pitchFamily="2" charset="-122"/>
                <a:cs typeface="宋体" panose="02010600030101010101" pitchFamily="2" charset="-122"/>
              </a:rPr>
              <a:t>确</a:t>
            </a:r>
            <a:r>
              <a:rPr sz="1000" spc="-15" dirty="0">
                <a:latin typeface="宋体" panose="02010600030101010101" pitchFamily="2" charset="-122"/>
                <a:cs typeface="宋体" panose="02010600030101010101" pitchFamily="2" charset="-122"/>
              </a:rPr>
              <a:t>认机制，完善网络异常处理逻辑</a:t>
            </a:r>
            <a:endParaRPr sz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8290" indent="-170815" eaLnBrk="1" fontAlgn="auto" latinLnBrk="0" hangingPunct="1">
              <a:lnSpc>
                <a:spcPct val="100000"/>
              </a:lnSpc>
              <a:spcBef>
                <a:spcPts val="65"/>
              </a:spcBef>
              <a:buFont typeface="Wingdings" panose="05000000000000000000"/>
              <a:buChar char=""/>
              <a:tabLst>
                <a:tab pos="288290" algn="l"/>
              </a:tabLst>
            </a:pPr>
            <a:r>
              <a:rPr sz="1000" spc="-75" dirty="0">
                <a:latin typeface="宋体" panose="02010600030101010101" pitchFamily="2" charset="-122"/>
                <a:cs typeface="宋体" panose="02010600030101010101" pitchFamily="2" charset="-122"/>
              </a:rPr>
              <a:t>采用 </a:t>
            </a:r>
            <a:r>
              <a:rPr sz="1000" dirty="0">
                <a:latin typeface="Calibri" panose="020F0502020204030204"/>
                <a:cs typeface="Calibri" panose="020F0502020204030204"/>
              </a:rPr>
              <a:t>MySQL</a:t>
            </a:r>
            <a:r>
              <a:rPr sz="100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存储数据，并设计分布式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ID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生成方案，集成雪花算法保障系统全局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ID</a:t>
            </a:r>
            <a:r>
              <a:rPr sz="1000" spc="-25" dirty="0">
                <a:latin typeface="宋体" panose="02010600030101010101" pitchFamily="2" charset="-122"/>
                <a:cs typeface="宋体" panose="02010600030101010101" pitchFamily="2" charset="-122"/>
              </a:rPr>
              <a:t>唯一性</a:t>
            </a:r>
            <a:endParaRPr sz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8925" marR="80010" indent="-171450" eaLnBrk="1" fontAlgn="auto" latinLnBrk="0" hangingPunct="1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"/>
              <a:tabLst>
                <a:tab pos="288925" algn="l"/>
              </a:tabLst>
            </a:pP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实现群组消息扩散机制，通过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Kafka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顺序消费保障消息有序投递，实现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Kafka</a:t>
            </a:r>
            <a:r>
              <a:rPr sz="1000" spc="-15" dirty="0">
                <a:latin typeface="宋体" panose="02010600030101010101" pitchFamily="2" charset="-122"/>
                <a:cs typeface="宋体" panose="02010600030101010101" pitchFamily="2" charset="-122"/>
              </a:rPr>
              <a:t>消息分区策略优化，提升消</a:t>
            </a:r>
            <a:r>
              <a:rPr sz="1000" spc="-20" dirty="0">
                <a:latin typeface="宋体" panose="02010600030101010101" pitchFamily="2" charset="-122"/>
                <a:cs typeface="宋体" panose="02010600030101010101" pitchFamily="2" charset="-122"/>
              </a:rPr>
              <a:t>息系统整体吞吐量</a:t>
            </a:r>
            <a:endParaRPr sz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8925" marR="5080" indent="-171450" eaLnBrk="1" fontAlgn="auto" latinLnBrk="0" hangingPunct="1">
              <a:lnSpc>
                <a:spcPct val="100000"/>
              </a:lnSpc>
              <a:spcBef>
                <a:spcPts val="40"/>
              </a:spcBef>
              <a:buFont typeface="Wingdings" panose="05000000000000000000"/>
              <a:buChar char=""/>
              <a:tabLst>
                <a:tab pos="288925" algn="l"/>
              </a:tabLst>
            </a:pP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设计红包业务分布式事务方案，基于</a:t>
            </a:r>
            <a:r>
              <a:rPr sz="1000" dirty="0">
                <a:latin typeface="Calibri" panose="020F0502020204030204"/>
                <a:cs typeface="Calibri" panose="020F0502020204030204"/>
              </a:rPr>
              <a:t>Redis 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Lua</a:t>
            </a:r>
            <a:r>
              <a:rPr sz="1000" spc="-30" dirty="0">
                <a:latin typeface="宋体" panose="02010600030101010101" pitchFamily="2" charset="-122"/>
                <a:cs typeface="宋体" panose="02010600030101010101" pitchFamily="2" charset="-122"/>
              </a:rPr>
              <a:t>脚本实现数量扣减原子化操作， 设计红包自动过期机制，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通过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Redis</a:t>
            </a:r>
            <a:r>
              <a:rPr sz="1000" spc="-15" dirty="0">
                <a:latin typeface="宋体" panose="02010600030101010101" pitchFamily="2" charset="-122"/>
                <a:cs typeface="宋体" panose="02010600030101010101" pitchFamily="2" charset="-122"/>
              </a:rPr>
              <a:t>过期特性实现资金自动回收</a:t>
            </a:r>
            <a:endParaRPr sz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ts val="1170"/>
              </a:lnSpc>
            </a:pPr>
            <a:endParaRPr sz="1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12765" y="3873499"/>
            <a:ext cx="901065" cy="165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Calibri" panose="020F0502020204030204"/>
                <a:cs typeface="Calibri" panose="020F0502020204030204"/>
              </a:rPr>
              <a:t>202</a:t>
            </a:r>
            <a:r>
              <a:rPr lang="en-US" altLang="en-US" sz="1000" b="1" spc="-10" dirty="0">
                <a:latin typeface="Calibri" panose="020F0502020204030204"/>
                <a:cs typeface="Calibri" panose="020F0502020204030204"/>
              </a:rPr>
              <a:t>5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.1-202</a:t>
            </a:r>
            <a:r>
              <a:rPr lang="en-US" altLang="" sz="1000" b="1" spc="-10" dirty="0">
                <a:latin typeface="Calibri" panose="020F0502020204030204"/>
                <a:cs typeface="Calibri" panose="020F0502020204030204"/>
              </a:rPr>
              <a:t>5.</a:t>
            </a:r>
            <a:r>
              <a:rPr lang="en-US" altLang="en-US" sz="1000" b="1" spc="-10" dirty="0">
                <a:latin typeface="Calibri" panose="020F0502020204030204"/>
                <a:cs typeface="Calibri" panose="020F0502020204030204"/>
              </a:rPr>
              <a:t>4</a:t>
            </a:r>
            <a:endParaRPr lang="en-US" altLang="en-US" sz="1000" b="1" spc="-10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673" y="152526"/>
            <a:ext cx="900683" cy="1260348"/>
          </a:xfrm>
          <a:prstGeom prst="rect">
            <a:avLst/>
          </a:prstGeom>
        </p:spPr>
      </p:pic>
      <p:sp>
        <p:nvSpPr>
          <p:cNvPr id="21" name="object 20"/>
          <p:cNvSpPr txBox="1"/>
          <p:nvPr/>
        </p:nvSpPr>
        <p:spPr>
          <a:xfrm>
            <a:off x="466090" y="7620000"/>
            <a:ext cx="5932170" cy="1379220"/>
          </a:xfrm>
          <a:prstGeom prst="rect">
            <a:avLst/>
          </a:prstGeom>
        </p:spPr>
        <p:txBody>
          <a:bodyPr vert="horz" wrap="square" lIns="0" tIns="9207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100" spc="-30" dirty="0">
                <a:solidFill>
                  <a:srgbClr val="2D5395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实习经历</a:t>
            </a:r>
            <a:endParaRPr sz="1100" spc="-30" dirty="0">
              <a:solidFill>
                <a:srgbClr val="2D5395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kumimoji="0" sz="1000" b="1" i="0" u="none" strike="noStrike" kern="0" cap="none" spc="0" normalizeH="0" baseline="0" noProof="1" dirty="0">
                <a:latin typeface="Calibri" panose="020F0502020204030204"/>
                <a:ea typeface="Arial" panose="020B0604020202020204" pitchFamily="34" charset="0"/>
                <a:cs typeface="Calibri" panose="020F0502020204030204"/>
              </a:rPr>
              <a:t>小米科技有限责任公司</a:t>
            </a:r>
            <a:r>
              <a:rPr sz="1000" dirty="0"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en-US" altLang="en-US" sz="1000" dirty="0">
                <a:latin typeface="宋体" panose="02010600030101010101" pitchFamily="2" charset="-122"/>
                <a:cs typeface="宋体" panose="02010600030101010101" pitchFamily="2" charset="-122"/>
              </a:rPr>
              <a:t>           </a:t>
            </a:r>
            <a:r>
              <a:rPr kumimoji="0" sz="1000" b="1" i="0" u="none" strike="noStrike" kern="0" cap="none" spc="0" normalizeH="0" baseline="0" noProof="1" dirty="0">
                <a:latin typeface="Calibri" panose="020F0502020204030204"/>
                <a:ea typeface="Arial" panose="020B0604020202020204" pitchFamily="34" charset="0"/>
                <a:cs typeface="Calibri" panose="020F0502020204030204"/>
              </a:rPr>
              <a:t>小爱架构实习生</a:t>
            </a:r>
            <a:r>
              <a:rPr sz="1000" dirty="0"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en-US" altLang="en-US" sz="1000" dirty="0">
                <a:latin typeface="宋体" panose="02010600030101010101" pitchFamily="2" charset="-122"/>
                <a:cs typeface="宋体" panose="02010600030101010101" pitchFamily="2" charset="-122"/>
              </a:rPr>
              <a:t>                       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2025.9-2026.</a:t>
            </a:r>
            <a:r>
              <a:rPr lang="en-US" altLang="" sz="1000" b="1" spc="-10" dirty="0">
                <a:latin typeface="Calibri" panose="020F0502020204030204"/>
                <a:cs typeface="Calibri" panose="020F0502020204030204"/>
              </a:rPr>
              <a:t>1</a:t>
            </a:r>
            <a:endParaRPr lang="en-US" altLang="" sz="1000" b="1" spc="-1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19"/>
          <p:cNvSpPr/>
          <p:nvPr/>
        </p:nvSpPr>
        <p:spPr>
          <a:xfrm>
            <a:off x="457174" y="7924787"/>
            <a:ext cx="6056630" cy="8255"/>
          </a:xfrm>
          <a:custGeom>
            <a:avLst/>
            <a:gdLst/>
            <a:ahLst/>
            <a:cxnLst/>
            <a:rect l="l" t="t" r="r" b="b"/>
            <a:pathLst>
              <a:path w="6056630" h="8254">
                <a:moveTo>
                  <a:pt x="6056630" y="8254"/>
                </a:moveTo>
                <a:lnTo>
                  <a:pt x="0" y="7619"/>
                </a:lnTo>
                <a:lnTo>
                  <a:pt x="0" y="0"/>
                </a:lnTo>
                <a:lnTo>
                  <a:pt x="6056630" y="634"/>
                </a:lnTo>
                <a:lnTo>
                  <a:pt x="6056630" y="8254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1"/>
          <p:cNvSpPr txBox="1"/>
          <p:nvPr/>
        </p:nvSpPr>
        <p:spPr>
          <a:xfrm>
            <a:off x="486410" y="8153400"/>
            <a:ext cx="6087745" cy="113728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262890" marR="67310" indent="-171450">
              <a:lnSpc>
                <a:spcPct val="100000"/>
              </a:lnSpc>
              <a:spcBef>
                <a:spcPts val="95"/>
              </a:spcBef>
              <a:buFont typeface="Wingdings" panose="05000000000000000000" charset="0"/>
              <a:buChar char="l"/>
            </a:pP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全链路业务</a:t>
            </a:r>
            <a:r>
              <a:rPr lang="zh-CN" altLang=""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流优化与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架构理解：深度了解小爱同学从唤醒、Query预处理、意图识别（NLU）到结果填充</a:t>
            </a:r>
            <a:r>
              <a:rPr sz="1000" spc="-15" dirty="0">
                <a:latin typeface="宋体" panose="02010600030101010101" pitchFamily="2" charset="-122"/>
                <a:cs typeface="宋体" panose="02010600030101010101" pitchFamily="2" charset="-122"/>
              </a:rPr>
              <a:t>以及一些兜底方案的全链路流程。</a:t>
            </a:r>
            <a:endParaRPr sz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62890" marR="5080" indent="-171450">
              <a:lnSpc>
                <a:spcPct val="100000"/>
              </a:lnSpc>
              <a:buFont typeface="Wingdings" panose="05000000000000000000" charset="0"/>
              <a:buChar char="l"/>
            </a:pP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云端图像处理引擎性能优化：主导云端图像模块升级，</a:t>
            </a:r>
            <a:r>
              <a:rPr sz="1000" spc="-15" dirty="0">
                <a:latin typeface="宋体" panose="02010600030101010101" pitchFamily="2" charset="-122"/>
                <a:cs typeface="宋体" panose="02010600030101010101" pitchFamily="2" charset="-122"/>
              </a:rPr>
              <a:t>压测并降低了云端处理时</a:t>
            </a:r>
            <a:r>
              <a:rPr sz="1000" spc="-10" dirty="0">
                <a:latin typeface="宋体" panose="02010600030101010101" pitchFamily="2" charset="-122"/>
                <a:cs typeface="宋体" panose="02010600030101010101" pitchFamily="2" charset="-122"/>
              </a:rPr>
              <a:t>延，从7s降低到300ms</a:t>
            </a:r>
            <a:r>
              <a:rPr sz="1000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62890" marR="12700" indent="-171450">
              <a:lnSpc>
                <a:spcPct val="100000"/>
              </a:lnSpc>
              <a:buFont typeface="Wingdings" panose="05000000000000000000" charset="0"/>
              <a:buChar char="l"/>
            </a:pPr>
            <a:r>
              <a:rPr lang="zh-CN" altLang="" sz="1000">
                <a:latin typeface="宋体" panose="02010600030101010101" pitchFamily="2" charset="-122"/>
                <a:cs typeface="宋体" panose="02010600030101010101" pitchFamily="2" charset="-122"/>
              </a:rPr>
              <a:t>搭建</a:t>
            </a:r>
            <a:r>
              <a:rPr lang="en-US" altLang="zh-CN" sz="1000">
                <a:latin typeface="宋体" panose="02010600030101010101" pitchFamily="2" charset="-122"/>
                <a:cs typeface="宋体" panose="02010600030101010101" pitchFamily="2" charset="-122"/>
              </a:rPr>
              <a:t>ES-mcp-server</a:t>
            </a:r>
            <a:r>
              <a:rPr lang="zh-CN" altLang="en-US" sz="1000">
                <a:latin typeface="宋体" panose="02010600030101010101" pitchFamily="2" charset="-122"/>
                <a:cs typeface="宋体" panose="02010600030101010101" pitchFamily="2" charset="-122"/>
              </a:rPr>
              <a:t>实现自动排查服务</a:t>
            </a:r>
            <a:r>
              <a:rPr lang="en-US" altLang="zh-CN" sz="1000">
                <a:latin typeface="宋体" panose="02010600030101010101" pitchFamily="2" charset="-122"/>
                <a:cs typeface="宋体" panose="02010600030101010101" pitchFamily="2" charset="-122"/>
              </a:rPr>
              <a:t>applicaiton-log</a:t>
            </a: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1000"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lang="en-US" altLang="zh-CN" sz="1000">
                <a:latin typeface="宋体" panose="02010600030101010101" pitchFamily="2" charset="-122"/>
                <a:cs typeface="宋体" panose="02010600030101010101" pitchFamily="2" charset="-122"/>
              </a:rPr>
              <a:t> Cursor </a:t>
            </a:r>
            <a:r>
              <a:rPr lang="zh-CN" altLang="en-US" sz="1000"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r>
              <a:rPr lang="en-US" altLang="zh-CN" sz="1000">
                <a:latin typeface="宋体" panose="02010600030101010101" pitchFamily="2" charset="-122"/>
                <a:cs typeface="宋体" panose="02010600030101010101" pitchFamily="2" charset="-122"/>
              </a:rPr>
              <a:t> AI </a:t>
            </a:r>
            <a:r>
              <a:rPr lang="zh-CN" altLang="en-US" sz="1000">
                <a:latin typeface="宋体" panose="02010600030101010101" pitchFamily="2" charset="-122"/>
                <a:cs typeface="宋体" panose="02010600030101010101" pitchFamily="2" charset="-122"/>
              </a:rPr>
              <a:t>编程</a:t>
            </a:r>
            <a:r>
              <a:rPr lang="en-US" altLang="en-US" sz="1000">
                <a:latin typeface="宋体" panose="02010600030101010101" pitchFamily="2" charset="-122"/>
                <a:cs typeface="宋体" panose="02010600030101010101" pitchFamily="2" charset="-122"/>
              </a:rPr>
              <a:t>⼯</a:t>
            </a:r>
            <a:r>
              <a:rPr lang="zh-CN" altLang="en-US" sz="1000">
                <a:latin typeface="宋体" panose="02010600030101010101" pitchFamily="2" charset="-122"/>
                <a:cs typeface="宋体" panose="02010600030101010101" pitchFamily="2" charset="-122"/>
              </a:rPr>
              <a:t>具提供直接查询</a:t>
            </a:r>
            <a:r>
              <a:rPr lang="en-US" altLang="zh-CN" sz="1000">
                <a:latin typeface="宋体" panose="02010600030101010101" pitchFamily="2" charset="-122"/>
                <a:cs typeface="宋体" panose="02010600030101010101" pitchFamily="2" charset="-122"/>
              </a:rPr>
              <a:t> ES/Kibana </a:t>
            </a:r>
            <a:r>
              <a:rPr lang="en-US" altLang="en-US" sz="1000">
                <a:latin typeface="宋体" panose="02010600030101010101" pitchFamily="2" charset="-122"/>
                <a:cs typeface="宋体" panose="02010600030101010101" pitchFamily="2" charset="-122"/>
              </a:rPr>
              <a:t>⽇</a:t>
            </a:r>
            <a:r>
              <a:rPr lang="zh-CN" altLang="en-US" sz="1000">
                <a:latin typeface="宋体" panose="02010600030101010101" pitchFamily="2" charset="-122"/>
                <a:cs typeface="宋体" panose="02010600030101010101" pitchFamily="2" charset="-122"/>
              </a:rPr>
              <a:t>志的能</a:t>
            </a:r>
            <a:r>
              <a:rPr lang="en-US" altLang="en-US" sz="1000">
                <a:latin typeface="宋体" panose="02010600030101010101" pitchFamily="2" charset="-122"/>
                <a:cs typeface="宋体" panose="02010600030101010101" pitchFamily="2" charset="-122"/>
              </a:rPr>
              <a:t>⼒</a:t>
            </a:r>
            <a:r>
              <a:rPr lang="zh-CN" altLang="en-US" sz="100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62890" marR="133350" indent="-171450">
              <a:lnSpc>
                <a:spcPct val="100000"/>
              </a:lnSpc>
              <a:buFont typeface="Wingdings" panose="05000000000000000000" charset="0"/>
              <a:buChar char="l"/>
            </a:pPr>
            <a:r>
              <a:rPr sz="1000" spc="-5" dirty="0">
                <a:latin typeface="宋体" panose="02010600030101010101" pitchFamily="2" charset="-122"/>
                <a:cs typeface="宋体" panose="02010600030101010101" pitchFamily="2" charset="-122"/>
              </a:rPr>
              <a:t>自动化服务治理工具：基于 </a:t>
            </a:r>
            <a:r>
              <a:rPr sz="1000" dirty="0">
                <a:latin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sz="1000" spc="-15" dirty="0">
                <a:latin typeface="宋体" panose="02010600030101010101" pitchFamily="2" charset="-122"/>
                <a:cs typeface="宋体" panose="02010600030101010101" pitchFamily="2" charset="-122"/>
              </a:rPr>
              <a:t> 研发自动化治理工具，实现对小爱模型资源及服务状态的全量动态盘点与自动化报表生成；</a:t>
            </a:r>
            <a:endParaRPr sz="1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3"/>
          <p:cNvSpPr/>
          <p:nvPr/>
        </p:nvSpPr>
        <p:spPr>
          <a:xfrm>
            <a:off x="500519" y="2154288"/>
            <a:ext cx="6053455" cy="7620"/>
          </a:xfrm>
          <a:custGeom>
            <a:avLst/>
            <a:gdLst/>
            <a:ahLst/>
            <a:cxnLst/>
            <a:rect l="l" t="t" r="r" b="b"/>
            <a:pathLst>
              <a:path w="6053455" h="7619">
                <a:moveTo>
                  <a:pt x="6053213" y="7620"/>
                </a:moveTo>
                <a:lnTo>
                  <a:pt x="0" y="7620"/>
                </a:lnTo>
                <a:lnTo>
                  <a:pt x="0" y="0"/>
                </a:lnTo>
                <a:lnTo>
                  <a:pt x="6053213" y="0"/>
                </a:lnTo>
                <a:lnTo>
                  <a:pt x="6053213" y="762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3"/>
          <p:cNvSpPr/>
          <p:nvPr/>
        </p:nvSpPr>
        <p:spPr>
          <a:xfrm>
            <a:off x="466229" y="3830688"/>
            <a:ext cx="6053455" cy="7620"/>
          </a:xfrm>
          <a:custGeom>
            <a:avLst/>
            <a:gdLst/>
            <a:ahLst/>
            <a:cxnLst/>
            <a:rect l="l" t="t" r="r" b="b"/>
            <a:pathLst>
              <a:path w="6053455" h="7619">
                <a:moveTo>
                  <a:pt x="6053213" y="7620"/>
                </a:moveTo>
                <a:lnTo>
                  <a:pt x="0" y="7620"/>
                </a:lnTo>
                <a:lnTo>
                  <a:pt x="0" y="0"/>
                </a:lnTo>
                <a:lnTo>
                  <a:pt x="6053213" y="0"/>
                </a:lnTo>
                <a:lnTo>
                  <a:pt x="6053213" y="762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3"/>
          <p:cNvSpPr/>
          <p:nvPr/>
        </p:nvSpPr>
        <p:spPr>
          <a:xfrm>
            <a:off x="460514" y="9448533"/>
            <a:ext cx="6053455" cy="7620"/>
          </a:xfrm>
          <a:custGeom>
            <a:avLst/>
            <a:gdLst/>
            <a:ahLst/>
            <a:cxnLst/>
            <a:rect l="l" t="t" r="r" b="b"/>
            <a:pathLst>
              <a:path w="6053455" h="7619">
                <a:moveTo>
                  <a:pt x="6053213" y="7620"/>
                </a:moveTo>
                <a:lnTo>
                  <a:pt x="0" y="7620"/>
                </a:lnTo>
                <a:lnTo>
                  <a:pt x="0" y="0"/>
                </a:lnTo>
                <a:lnTo>
                  <a:pt x="6053213" y="0"/>
                </a:lnTo>
                <a:lnTo>
                  <a:pt x="6053213" y="762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文本框 7"/>
          <p:cNvSpPr txBox="1"/>
          <p:nvPr/>
        </p:nvSpPr>
        <p:spPr>
          <a:xfrm>
            <a:off x="381000" y="9196070"/>
            <a:ext cx="3429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lang="zh-CN" altLang="en-US" sz="1100" spc="-30" dirty="0">
                <a:solidFill>
                  <a:srgbClr val="2D5395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荣誉</a:t>
            </a:r>
            <a:r>
              <a:rPr lang="zh-CN" altLang="en-US" sz="1100" spc="-30" dirty="0">
                <a:solidFill>
                  <a:srgbClr val="2D5395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经历</a:t>
            </a:r>
            <a:endParaRPr lang="zh-CN" altLang="en-US" sz="1100" spc="-30" dirty="0">
              <a:solidFill>
                <a:srgbClr val="2D5395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3400" y="9461500"/>
            <a:ext cx="289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</a:rPr>
              <a:t>中国研究生数学建模竞赛国家级二等奖</a:t>
            </a:r>
            <a:r>
              <a:rPr lang="en-US" altLang="zh-CN" sz="900">
                <a:latin typeface="微软雅黑" panose="020B0503020204020204" charset="-122"/>
                <a:ea typeface="微软雅黑" panose="020B0503020204020204" charset="-122"/>
              </a:rPr>
              <a:t>          2024.11</a:t>
            </a:r>
            <a:endParaRPr lang="zh-CN" altLang="en-US" sz="9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</a:rPr>
              <a:t>校级一等奖学金</a:t>
            </a:r>
            <a:r>
              <a:rPr lang="en-US" altLang="zh-CN" sz="900">
                <a:latin typeface="微软雅黑" panose="020B0503020204020204" charset="-122"/>
                <a:ea typeface="微软雅黑" panose="020B0503020204020204" charset="-122"/>
              </a:rPr>
              <a:t>                                            2025.11</a:t>
            </a:r>
            <a:endParaRPr lang="en-US" altLang="zh-CN" sz="9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913505" y="9461500"/>
            <a:ext cx="2600325" cy="193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校级一等奖学金</a:t>
            </a:r>
            <a:r>
              <a:rPr lang="en-US" altLang="zh-CN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                </a:t>
            </a:r>
            <a:r>
              <a:rPr lang="en-US" altLang="zh-CN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2024.11</a:t>
            </a:r>
            <a:endParaRPr lang="en-US" altLang="zh-CN" sz="9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1893</Words>
  <Application>WPS 演示</Application>
  <PresentationFormat>On-screen Show (4:3)</PresentationFormat>
  <Paragraphs>66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Wingdings</vt:lpstr>
      <vt:lpstr>Calibri</vt:lpstr>
      <vt:lpstr>Microsoft JhengHei</vt:lpstr>
      <vt:lpstr>Wingdings</vt:lpstr>
      <vt:lpstr>Times New Roman</vt:lpstr>
      <vt:lpstr>Arial Unicode MS</vt:lpstr>
      <vt:lpstr>黑体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七年</cp:lastModifiedBy>
  <cp:revision>3</cp:revision>
  <dcterms:created xsi:type="dcterms:W3CDTF">2026-03-10T13:40:00Z</dcterms:created>
  <dcterms:modified xsi:type="dcterms:W3CDTF">2026-03-19T02:00:14Z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2025-08-18T16:00:00Z</vt:filetime>
  </property>
  <property fmtid="{D5CDD505-2E9C-101B-9397-08002B2CF9AE}" pid="3" name="Creator">
    <vt:lpwstr>WPS 演示</vt:lpwstr>
  </property>
  <property fmtid="{D5CDD505-2E9C-101B-9397-08002B2CF9AE}" pid="4" name="LastSaved">
    <vt:filetime>2026-03-10T16:00:00Z</vt:filetime>
  </property>
  <property fmtid="{D5CDD505-2E9C-101B-9397-08002B2CF9AE}" pid="5" name="SourceModified">
    <vt:lpwstr>D:20250818235906+08'00'</vt:lpwstr>
  </property>
  <property fmtid="{D5CDD505-2E9C-101B-9397-08002B2CF9AE}" pid="6" name="KSOProductBuildVer">
    <vt:lpwstr>2052-12.1.0.25225</vt:lpwstr>
  </property>
  <property fmtid="{D5CDD505-2E9C-101B-9397-08002B2CF9AE}" pid="7" name="ICV">
    <vt:lpwstr>A00E3183FA0343538D0E48DD53416B7C_13</vt:lpwstr>
  </property>
</Properties>
</file>